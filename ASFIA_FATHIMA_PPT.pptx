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47" r:id="rId8"/>
    <p:sldId id="329" r:id="rId9"/>
    <p:sldId id="302" r:id="rId10"/>
    <p:sldId id="348" r:id="rId11"/>
    <p:sldId id="339" r:id="rId12"/>
    <p:sldId id="340" r:id="rId13"/>
    <p:sldId id="344" r:id="rId14"/>
    <p:sldId id="345" r:id="rId15"/>
    <p:sldId id="346"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66172-E38A-410C-B049-B4DDCEFC2D70}" v="6" dt="2026-09-10T14:39:10.01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9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fia fathima" userId="cdc6dd1563cf2f95" providerId="LiveId" clId="{C3AA2898-E99D-4DDA-BA37-073B044AF65B}"/>
    <pc:docChg chg="custSel modSld">
      <pc:chgData name="Asfia fathima" userId="cdc6dd1563cf2f95" providerId="LiveId" clId="{C3AA2898-E99D-4DDA-BA37-073B044AF65B}" dt="2026-09-10T14:39:14.439" v="21" actId="1076"/>
      <pc:docMkLst>
        <pc:docMk/>
      </pc:docMkLst>
      <pc:sldChg chg="addSp modSp mod">
        <pc:chgData name="Asfia fathima" userId="cdc6dd1563cf2f95" providerId="LiveId" clId="{C3AA2898-E99D-4DDA-BA37-073B044AF65B}" dt="2026-09-10T14:39:14.439" v="21" actId="1076"/>
        <pc:sldMkLst>
          <pc:docMk/>
          <pc:sldMk cId="3401748718" sldId="304"/>
        </pc:sldMkLst>
        <pc:spChg chg="add mod">
          <ac:chgData name="Asfia fathima" userId="cdc6dd1563cf2f95" providerId="LiveId" clId="{C3AA2898-E99D-4DDA-BA37-073B044AF65B}" dt="2026-09-10T14:39:10.010" v="20"/>
          <ac:spMkLst>
            <pc:docMk/>
            <pc:sldMk cId="3401748718" sldId="304"/>
            <ac:spMk id="4" creationId="{C8509323-4E6C-0A1D-22A1-36C61CD9FD11}"/>
          </ac:spMkLst>
        </pc:spChg>
        <pc:picChg chg="mod">
          <ac:chgData name="Asfia fathima" userId="cdc6dd1563cf2f95" providerId="LiveId" clId="{C3AA2898-E99D-4DDA-BA37-073B044AF65B}" dt="2026-09-10T14:39:14.439" v="21" actId="1076"/>
          <ac:picMkLst>
            <pc:docMk/>
            <pc:sldMk cId="3401748718" sldId="304"/>
            <ac:picMk id="2" creationId="{D3F1DCD8-1817-3276-7113-DF6A04C64059}"/>
          </ac:picMkLst>
        </pc:picChg>
      </pc:sldChg>
      <pc:sldChg chg="modSp">
        <pc:chgData name="Asfia fathima" userId="cdc6dd1563cf2f95" providerId="LiveId" clId="{C3AA2898-E99D-4DDA-BA37-073B044AF65B}" dt="2026-09-10T14:39:01.209" v="18"/>
        <pc:sldMkLst>
          <pc:docMk/>
          <pc:sldMk cId="1604013440" sldId="338"/>
        </pc:sldMkLst>
        <pc:spChg chg="mod">
          <ac:chgData name="Asfia fathima" userId="cdc6dd1563cf2f95" providerId="LiveId" clId="{C3AA2898-E99D-4DDA-BA37-073B044AF65B}" dt="2026-09-10T14:39:01.209" v="18"/>
          <ac:spMkLst>
            <pc:docMk/>
            <pc:sldMk cId="1604013440" sldId="338"/>
            <ac:spMk id="3" creationId="{17F04107-8754-E47D-3375-529E689711FA}"/>
          </ac:spMkLst>
        </pc:spChg>
      </pc:sldChg>
      <pc:sldChg chg="addSp delSp modSp mod">
        <pc:chgData name="Asfia fathima" userId="cdc6dd1563cf2f95" providerId="LiveId" clId="{C3AA2898-E99D-4DDA-BA37-073B044AF65B}" dt="2026-09-10T14:38:48.112" v="17" actId="1076"/>
        <pc:sldMkLst>
          <pc:docMk/>
          <pc:sldMk cId="3863610428" sldId="342"/>
        </pc:sldMkLst>
        <pc:spChg chg="mod">
          <ac:chgData name="Asfia fathima" userId="cdc6dd1563cf2f95" providerId="LiveId" clId="{C3AA2898-E99D-4DDA-BA37-073B044AF65B}" dt="2026-09-10T14:38:48.112" v="17" actId="1076"/>
          <ac:spMkLst>
            <pc:docMk/>
            <pc:sldMk cId="3863610428" sldId="342"/>
            <ac:spMk id="2" creationId="{1E8E6193-077B-24B6-AF96-743B6000DAF0}"/>
          </ac:spMkLst>
        </pc:spChg>
        <pc:spChg chg="add del mod">
          <ac:chgData name="Asfia fathima" userId="cdc6dd1563cf2f95" providerId="LiveId" clId="{C3AA2898-E99D-4DDA-BA37-073B044AF65B}" dt="2026-09-10T14:38:43.763" v="16" actId="478"/>
          <ac:spMkLst>
            <pc:docMk/>
            <pc:sldMk cId="3863610428" sldId="342"/>
            <ac:spMk id="3" creationId="{386AE3DD-7CF5-0874-F261-34433A7BF4C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10-Sep-26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10-Sep-26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6EF9A-088B-4BDB-048C-A7B999488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9AD1-FD16-975D-98EA-CA1876A66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28A30-6972-6E0D-0786-27FD0233D7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269AFF-2970-CC30-F24E-05EA9D1FAFE6}"/>
              </a:ext>
            </a:extLst>
          </p:cNvPr>
          <p:cNvSpPr>
            <a:spLocks noGrp="1"/>
          </p:cNvSpPr>
          <p:nvPr>
            <p:ph type="sldNum" sz="quarter" idx="5"/>
          </p:nvPr>
        </p:nvSpPr>
        <p:spPr/>
        <p:txBody>
          <a:bodyPr/>
          <a:lstStyle/>
          <a:p>
            <a:fld id="{8530193B-564F-4854-8A52-728F3FB19C85}" type="slidenum">
              <a:rPr lang="en-US" noProof="0" smtClean="0"/>
              <a:t>7</a:t>
            </a:fld>
            <a:endParaRPr lang="en-US" noProof="0" dirty="0"/>
          </a:p>
        </p:txBody>
      </p:sp>
    </p:spTree>
    <p:extLst>
      <p:ext uri="{BB962C8B-B14F-4D97-AF65-F5344CB8AC3E}">
        <p14:creationId xmlns:p14="http://schemas.microsoft.com/office/powerpoint/2010/main" val="1872519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10-Sep-26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10-Sep-26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10-Sep-26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Asfiashub/VOIS_internship.git" TargetMode="External"/><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sfiashub/VOIS_internship.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20.xml"/><Relationship Id="rId4" Type="http://schemas.openxmlformats.org/officeDocument/2006/relationships/hyperlink" Target="https://github.com/Asfiashub/VOIS_internship.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7668986" cy="861497"/>
          </a:xfrm>
        </p:spPr>
        <p:txBody>
          <a:bodyPr vert="horz" lIns="91440" tIns="45720" rIns="91440" bIns="45720" rtlCol="0" anchor="t">
            <a:normAutofit fontScale="77500" lnSpcReduction="20000"/>
          </a:bodyPr>
          <a:lstStyle/>
          <a:p>
            <a:pPr algn="r"/>
            <a:r>
              <a:rPr lang="en-US" sz="4600" dirty="0">
                <a:solidFill>
                  <a:schemeClr val="tx1"/>
                </a:solidFill>
              </a:rPr>
              <a:t>ASFIA FATHIMA</a:t>
            </a:r>
          </a:p>
          <a:p>
            <a:pPr algn="r"/>
            <a:r>
              <a:rPr lang="en-US" b="0" dirty="0">
                <a:solidFill>
                  <a:schemeClr val="tx1"/>
                </a:solidFill>
              </a:rPr>
              <a:t>METHODIST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229122" cy="743448"/>
          </a:xfrm>
        </p:spPr>
        <p:txBody>
          <a:bodyPr>
            <a:normAutofit fontScale="90000"/>
          </a:bodyPr>
          <a:lstStyle/>
          <a:p>
            <a:r>
              <a:rPr lang="en-GB" sz="3200" dirty="0"/>
              <a:t>Project Title -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91377"/>
            <a:ext cx="10840086" cy="1785104"/>
          </a:xfrm>
          <a:prstGeom prst="rect">
            <a:avLst/>
          </a:prstGeom>
          <a:noFill/>
        </p:spPr>
        <p:txBody>
          <a:bodyPr wrap="square" rtlCol="0">
            <a:spAutoFit/>
          </a:bodyPr>
          <a:lstStyle/>
          <a:p>
            <a:r>
              <a:rPr lang="en-US" sz="2800" b="1" dirty="0"/>
              <a:t>AICTE STU ID :  STU6729ba499e1261730787913 </a:t>
            </a:r>
          </a:p>
          <a:p>
            <a:endParaRPr lang="en-US" b="1" dirty="0"/>
          </a:p>
          <a:p>
            <a:endParaRPr lang="en-US" b="1" dirty="0"/>
          </a:p>
          <a:p>
            <a:r>
              <a:rPr lang="en-US" dirty="0">
                <a:hlinkClick r:id="rId3"/>
              </a:rPr>
              <a:t>https://github.com/Asfiashub/VOIS_internship.git</a:t>
            </a:r>
            <a:endParaRPr lang="en-US" b="1" dirty="0"/>
          </a:p>
          <a:p>
            <a:r>
              <a:rPr lang="en-US" sz="2800" b="1" dirty="0"/>
              <a:t>Internship ID=INTERNSHIP_17830691666a4779eecfe8a</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13722" y="1495493"/>
            <a:ext cx="8342449" cy="3867014"/>
          </a:xfrm>
        </p:spPr>
        <p:txBody>
          <a:bodyPr vert="horz" lIns="91440" tIns="45720" rIns="91440" bIns="45720" rtlCol="0" anchor="t">
            <a:noAutofit/>
          </a:bodyPr>
          <a:lstStyle/>
          <a:p>
            <a:pPr>
              <a:lnSpc>
                <a:spcPct val="100000"/>
              </a:lnSpc>
            </a:pPr>
            <a:r>
              <a:rPr lang="en-US" sz="24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222344" cy="830997"/>
          </a:xfrm>
        </p:spPr>
        <p:txBody>
          <a:bodyPr>
            <a:normAutofit fontScale="90000"/>
          </a:bodyPr>
          <a:lstStyle/>
          <a:p>
            <a:r>
              <a:rPr lang="en-GB" dirty="0"/>
              <a:t>Project Description</a:t>
            </a:r>
            <a:br>
              <a:rPr lang="en-GB" dirty="0"/>
            </a:br>
            <a:br>
              <a:rPr lang="en-GB" dirty="0"/>
            </a:br>
            <a:r>
              <a:rPr lang="en-US" sz="2200" b="0" dirty="0"/>
              <a:t>This project performs an end-to-end data analytics study on a seasonal </a:t>
            </a:r>
            <a:br>
              <a:rPr lang="en-US" sz="2200" b="0" dirty="0"/>
            </a:br>
            <a:r>
              <a:rPr lang="en-US" sz="2200" b="0" dirty="0"/>
              <a:t>agriculture dataset containing 25 attributes across environmental, </a:t>
            </a:r>
            <a:br>
              <a:rPr lang="en-US" sz="2200" b="0" dirty="0"/>
            </a:br>
            <a:r>
              <a:rPr lang="en-US" sz="2200" b="0" dirty="0"/>
              <a:t>operational, production and economic categories.</a:t>
            </a:r>
            <a:br>
              <a:rPr lang="en-US" sz="2200" b="0" dirty="0"/>
            </a:br>
            <a:br>
              <a:rPr lang="en-US" sz="2200" b="0" dirty="0"/>
            </a:br>
            <a:r>
              <a:rPr lang="en-US" sz="2200" b="0" dirty="0"/>
              <a:t>The workflow includes:</a:t>
            </a:r>
            <a:br>
              <a:rPr lang="en-US" sz="2200" b="0" dirty="0"/>
            </a:br>
            <a:r>
              <a:rPr lang="en-US" sz="2200" b="0" dirty="0"/>
              <a:t>- Data cleaning (missing values, duplicates, data type checks)</a:t>
            </a:r>
            <a:br>
              <a:rPr lang="en-US" sz="2200" b="0" dirty="0"/>
            </a:br>
            <a:r>
              <a:rPr lang="en-US" sz="2200" b="0" dirty="0"/>
              <a:t>- Descriptive statistical analysis</a:t>
            </a:r>
            <a:br>
              <a:rPr lang="en-US" sz="2200" b="0" dirty="0"/>
            </a:br>
            <a:r>
              <a:rPr lang="en-US" sz="2200" b="0" dirty="0"/>
              <a:t>- Univariate, bivariate and multivariate visual analysis</a:t>
            </a:r>
            <a:br>
              <a:rPr lang="en-US" sz="2200" b="0" dirty="0"/>
            </a:br>
            <a:r>
              <a:rPr lang="en-US" sz="2200" b="0" dirty="0"/>
              <a:t>- Outlier detection using IQR</a:t>
            </a:r>
            <a:br>
              <a:rPr lang="en-US" sz="2200" b="0" dirty="0"/>
            </a:br>
            <a:r>
              <a:rPr lang="en-US" sz="2200" b="0" dirty="0"/>
              <a:t>- Seasonal comparison of yield, profit, water usage and efficiency</a:t>
            </a:r>
            <a:br>
              <a:rPr lang="en-US" sz="2200" b="0" dirty="0"/>
            </a:br>
            <a:r>
              <a:rPr lang="en-US" sz="2200" b="0" dirty="0"/>
              <a:t>- Correlation analysis between environmental and performance variables</a:t>
            </a:r>
            <a:br>
              <a:rPr lang="en-US" sz="2200" b="0"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E853E00-9C23-2197-2D4A-9B5521AB91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746886-6367-6660-546E-A6270F52F0D2}"/>
              </a:ext>
            </a:extLst>
          </p:cNvPr>
          <p:cNvSpPr>
            <a:spLocks noGrp="1"/>
          </p:cNvSpPr>
          <p:nvPr>
            <p:ph type="title"/>
          </p:nvPr>
        </p:nvSpPr>
        <p:spPr>
          <a:xfrm>
            <a:off x="660398" y="805213"/>
            <a:ext cx="9104087" cy="830997"/>
          </a:xfrm>
        </p:spPr>
        <p:txBody>
          <a:bodyPr>
            <a:normAutofit fontScale="90000"/>
          </a:bodyPr>
          <a:lstStyle/>
          <a:p>
            <a:r>
              <a:rPr lang="en-GB" dirty="0"/>
              <a:t>Project Description-</a:t>
            </a:r>
            <a:r>
              <a:rPr lang="en-GB" dirty="0" err="1"/>
              <a:t>contd</a:t>
            </a:r>
            <a:br>
              <a:rPr lang="en-GB" dirty="0"/>
            </a:br>
            <a:br>
              <a:rPr lang="en-GB" dirty="0"/>
            </a:br>
            <a:r>
              <a:rPr lang="en-US" sz="2200" b="0" dirty="0"/>
              <a:t>- Evidence-based insights and recommendations for seasonal planning</a:t>
            </a:r>
            <a:br>
              <a:rPr lang="en-US" sz="2200" b="0" dirty="0"/>
            </a:br>
            <a:br>
              <a:rPr lang="en-US" sz="2200" b="0" dirty="0"/>
            </a:br>
            <a:r>
              <a:rPr lang="en-US" sz="2200" b="0" dirty="0"/>
              <a:t>The dataset covers multiple states, districts and crops, allowing </a:t>
            </a:r>
            <a:br>
              <a:rPr lang="en-US" sz="2200" b="0" dirty="0"/>
            </a:br>
            <a:r>
              <a:rPr lang="en-US" sz="2200" b="0" dirty="0"/>
              <a:t>performance to be compared not just across seasons but across crop type </a:t>
            </a:r>
            <a:br>
              <a:rPr lang="en-US" sz="2200" b="0" dirty="0"/>
            </a:br>
            <a:r>
              <a:rPr lang="en-US" sz="2200" b="0" dirty="0"/>
              <a:t>and irrigation method as well.</a:t>
            </a:r>
            <a:br>
              <a:rPr lang="en-US" sz="2200" b="0" dirty="0"/>
            </a:br>
            <a:br>
              <a:rPr lang="en-US" sz="2200" b="0" dirty="0"/>
            </a:br>
            <a:r>
              <a:rPr lang="en-US" sz="2200" b="0" dirty="0"/>
              <a:t>Tools used: Python, Pandas, NumPy, Matplotlib, Seaborn (Google </a:t>
            </a:r>
            <a:r>
              <a:rPr lang="en-US" sz="2200" b="0" dirty="0" err="1"/>
              <a:t>Colab</a:t>
            </a:r>
            <a:r>
              <a:rPr lang="en-US" sz="2200" b="0" dirty="0"/>
              <a:t> / </a:t>
            </a:r>
            <a:br>
              <a:rPr lang="en-US" sz="2200" b="0" dirty="0"/>
            </a:br>
            <a:r>
              <a:rPr lang="en-US" sz="2200" b="0" dirty="0"/>
              <a:t>Jupyter Notebook). No machine learning or dashboarding is involved — this </a:t>
            </a:r>
            <a:br>
              <a:rPr lang="en-US" sz="2200" b="0" dirty="0"/>
            </a:br>
            <a:r>
              <a:rPr lang="en-US" sz="2200" b="0" dirty="0"/>
              <a:t>is a pure exploratory data analytics project.</a:t>
            </a:r>
            <a:r>
              <a:rPr lang="en-GB" sz="2400" dirty="0"/>
              <a:t> </a:t>
            </a:r>
            <a:br>
              <a:rPr lang="en-GB" sz="2400" dirty="0"/>
            </a:br>
            <a:endParaRPr lang="en-IN" dirty="0"/>
          </a:p>
        </p:txBody>
      </p:sp>
      <p:pic>
        <p:nvPicPr>
          <p:cNvPr id="5" name="Picture 4">
            <a:extLst>
              <a:ext uri="{FF2B5EF4-FFF2-40B4-BE49-F238E27FC236}">
                <a16:creationId xmlns:a16="http://schemas.microsoft.com/office/drawing/2014/main" id="{8ABDA123-B690-D937-DA12-ABFFB8E96605}"/>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10B2CC01-9214-FE3D-1D86-048B3B8AB57F}"/>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257652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436371"/>
            <a:ext cx="8847184" cy="4983321"/>
          </a:xfrm>
        </p:spPr>
        <p:txBody>
          <a:bodyPr>
            <a:noAutofit/>
          </a:bodyPr>
          <a:lstStyle/>
          <a:p>
            <a:pPr algn="just">
              <a:lnSpc>
                <a:spcPct val="150000"/>
              </a:lnSpc>
            </a:pPr>
            <a:r>
              <a:rPr lang="en-US" sz="1600" b="1" dirty="0"/>
              <a:t>- Farmers and agricultural planners — to understand which season and </a:t>
            </a:r>
          </a:p>
          <a:p>
            <a:pPr algn="just">
              <a:lnSpc>
                <a:spcPct val="150000"/>
              </a:lnSpc>
            </a:pPr>
            <a:r>
              <a:rPr lang="en-US" sz="1600" b="1" dirty="0"/>
              <a:t>  practices yield better returns for a given crop.</a:t>
            </a:r>
          </a:p>
          <a:p>
            <a:pPr algn="just">
              <a:lnSpc>
                <a:spcPct val="150000"/>
              </a:lnSpc>
            </a:pPr>
            <a:r>
              <a:rPr lang="en-US" sz="1600" b="1" dirty="0"/>
              <a:t>- Agricultural policy makers / government bodies — to plan seasonal </a:t>
            </a:r>
          </a:p>
          <a:p>
            <a:pPr algn="just">
              <a:lnSpc>
                <a:spcPct val="150000"/>
              </a:lnSpc>
            </a:pPr>
            <a:r>
              <a:rPr lang="en-US" sz="1600" b="1" dirty="0"/>
              <a:t>  resource allocation (water, fertilizer subsidies) more effectively.</a:t>
            </a:r>
          </a:p>
          <a:p>
            <a:pPr algn="just">
              <a:lnSpc>
                <a:spcPct val="150000"/>
              </a:lnSpc>
            </a:pPr>
            <a:r>
              <a:rPr lang="en-US" sz="1600" b="1" dirty="0"/>
              <a:t>- Agribusiness and </a:t>
            </a:r>
            <a:r>
              <a:rPr lang="en-US" sz="1600" b="1" dirty="0" err="1"/>
              <a:t>agri</a:t>
            </a:r>
            <a:r>
              <a:rPr lang="en-US" sz="1600" b="1" dirty="0"/>
              <a:t>-input companies — to identify seasonal demand </a:t>
            </a:r>
          </a:p>
          <a:p>
            <a:pPr algn="just">
              <a:lnSpc>
                <a:spcPct val="150000"/>
              </a:lnSpc>
            </a:pPr>
            <a:r>
              <a:rPr lang="en-US" sz="1600" b="1" dirty="0"/>
              <a:t>  patterns for fertilizers, irrigation equipment and seeds.</a:t>
            </a:r>
          </a:p>
          <a:p>
            <a:pPr algn="just">
              <a:lnSpc>
                <a:spcPct val="150000"/>
              </a:lnSpc>
            </a:pPr>
            <a:r>
              <a:rPr lang="en-US" sz="1600" b="1" dirty="0"/>
              <a:t>- Researchers and students — as a reference for seasonal agricultural </a:t>
            </a:r>
          </a:p>
          <a:p>
            <a:pPr algn="just">
              <a:lnSpc>
                <a:spcPct val="150000"/>
              </a:lnSpc>
            </a:pPr>
            <a:r>
              <a:rPr lang="en-US" sz="1600" b="1" dirty="0"/>
              <a:t>  performance trends and data-driven decision making.</a:t>
            </a:r>
          </a:p>
          <a:p>
            <a:pPr algn="just">
              <a:lnSpc>
                <a:spcPct val="150000"/>
              </a:lnSpc>
            </a:pPr>
            <a:r>
              <a:rPr lang="en-US" sz="1600" b="1" dirty="0"/>
              <a:t>- Financial institutions / crop insurers — to assess seasonal risk and </a:t>
            </a:r>
          </a:p>
          <a:p>
            <a:pPr algn="just">
              <a:lnSpc>
                <a:spcPct val="150000"/>
              </a:lnSpc>
            </a:pPr>
            <a:r>
              <a:rPr lang="en-US" sz="1600" b="1" dirty="0"/>
              <a:t>  profitability patterns when evaluating agricultural lending or insurance.</a:t>
            </a:r>
            <a:endParaRPr lang="en-IN" sz="1600" b="1"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nSpc>
                <a:spcPct val="150000"/>
              </a:lnSpc>
            </a:pPr>
            <a:r>
              <a:rPr lang="en-IN" sz="2400" dirty="0"/>
              <a:t>Language: Python 3</a:t>
            </a:r>
          </a:p>
          <a:p>
            <a:pPr lvl="1">
              <a:lnSpc>
                <a:spcPct val="150000"/>
              </a:lnSpc>
            </a:pPr>
            <a:endParaRPr lang="en-IN" sz="2400" dirty="0"/>
          </a:p>
          <a:p>
            <a:pPr lvl="1">
              <a:lnSpc>
                <a:spcPct val="150000"/>
              </a:lnSpc>
            </a:pPr>
            <a:r>
              <a:rPr lang="en-IN" sz="2400" dirty="0"/>
              <a:t>Libraries:</a:t>
            </a:r>
          </a:p>
          <a:p>
            <a:pPr lvl="1">
              <a:lnSpc>
                <a:spcPct val="150000"/>
              </a:lnSpc>
            </a:pPr>
            <a:r>
              <a:rPr lang="en-IN" sz="2400" dirty="0"/>
              <a:t>- Pandas — data loading, cleaning, aggregation</a:t>
            </a:r>
          </a:p>
          <a:p>
            <a:pPr lvl="1">
              <a:lnSpc>
                <a:spcPct val="150000"/>
              </a:lnSpc>
            </a:pPr>
            <a:r>
              <a:rPr lang="en-IN" sz="2400" dirty="0"/>
              <a:t>- NumPy — numerical operations</a:t>
            </a:r>
          </a:p>
          <a:p>
            <a:pPr lvl="1">
              <a:lnSpc>
                <a:spcPct val="150000"/>
              </a:lnSpc>
            </a:pPr>
            <a:r>
              <a:rPr lang="en-IN" sz="2400" dirty="0"/>
              <a:t>- Matplotlib — base plotting</a:t>
            </a:r>
          </a:p>
          <a:p>
            <a:pPr lvl="1">
              <a:lnSpc>
                <a:spcPct val="150000"/>
              </a:lnSpc>
            </a:pPr>
            <a:r>
              <a:rPr lang="en-IN" sz="2400" dirty="0"/>
              <a:t>- Seaborn — statistical visualizations (box plots, heatmaps, pair plots)</a:t>
            </a:r>
          </a:p>
          <a:p>
            <a:pPr lvl="1">
              <a:lnSpc>
                <a:spcPct val="150000"/>
              </a:lnSpc>
            </a:pPr>
            <a:endParaRPr lang="en-IN" sz="2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2821C91-B6E9-4573-26FB-9B74BD1F414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E81E184-77EE-D201-1F43-6D203588DEB5}"/>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4AC9B4BF-0351-5FAF-FEE6-F08439BF211C}"/>
              </a:ext>
            </a:extLst>
          </p:cNvPr>
          <p:cNvSpPr>
            <a:spLocks noGrp="1"/>
          </p:cNvSpPr>
          <p:nvPr>
            <p:ph type="body" sz="quarter" idx="12"/>
          </p:nvPr>
        </p:nvSpPr>
        <p:spPr>
          <a:xfrm>
            <a:off x="390618" y="1432560"/>
            <a:ext cx="9027702" cy="5243448"/>
          </a:xfrm>
        </p:spPr>
        <p:txBody>
          <a:bodyPr>
            <a:normAutofit fontScale="92500" lnSpcReduction="20000"/>
          </a:bodyPr>
          <a:lstStyle/>
          <a:p>
            <a:pPr lvl="1">
              <a:lnSpc>
                <a:spcPct val="150000"/>
              </a:lnSpc>
            </a:pPr>
            <a:r>
              <a:rPr lang="en-IN" sz="2400" dirty="0"/>
              <a:t>Environment: Google </a:t>
            </a:r>
            <a:r>
              <a:rPr lang="en-IN" sz="2400" dirty="0" err="1"/>
              <a:t>Colab</a:t>
            </a:r>
            <a:r>
              <a:rPr lang="en-IN" sz="2400" dirty="0"/>
              <a:t> / Jupyter Notebook</a:t>
            </a:r>
          </a:p>
          <a:p>
            <a:pPr lvl="1">
              <a:lnSpc>
                <a:spcPct val="150000"/>
              </a:lnSpc>
            </a:pPr>
            <a:endParaRPr lang="en-IN" sz="2400" dirty="0"/>
          </a:p>
          <a:p>
            <a:pPr lvl="1">
              <a:lnSpc>
                <a:spcPct val="150000"/>
              </a:lnSpc>
            </a:pPr>
            <a:r>
              <a:rPr lang="en-IN" sz="2400" dirty="0"/>
              <a:t>Techniques:</a:t>
            </a:r>
          </a:p>
          <a:p>
            <a:pPr lvl="1">
              <a:lnSpc>
                <a:spcPct val="150000"/>
              </a:lnSpc>
            </a:pPr>
            <a:r>
              <a:rPr lang="en-IN" sz="2400" dirty="0"/>
              <a:t>- Descriptive statistics (mean, median, std, IQR)</a:t>
            </a:r>
          </a:p>
          <a:p>
            <a:pPr lvl="1">
              <a:lnSpc>
                <a:spcPct val="150000"/>
              </a:lnSpc>
            </a:pPr>
            <a:r>
              <a:rPr lang="en-IN" sz="2400" dirty="0"/>
              <a:t>- Missing value &amp; duplicate handling</a:t>
            </a:r>
          </a:p>
          <a:p>
            <a:pPr lvl="1">
              <a:lnSpc>
                <a:spcPct val="150000"/>
              </a:lnSpc>
            </a:pPr>
            <a:r>
              <a:rPr lang="en-IN" sz="2400" dirty="0"/>
              <a:t>- IQR-based outlier detection</a:t>
            </a:r>
          </a:p>
          <a:p>
            <a:pPr lvl="1">
              <a:lnSpc>
                <a:spcPct val="150000"/>
              </a:lnSpc>
            </a:pPr>
            <a:r>
              <a:rPr lang="en-IN" sz="2400" dirty="0"/>
              <a:t>- Univariate, bivariate and multivariate visualization</a:t>
            </a:r>
          </a:p>
          <a:p>
            <a:pPr lvl="1">
              <a:lnSpc>
                <a:spcPct val="150000"/>
              </a:lnSpc>
            </a:pPr>
            <a:r>
              <a:rPr lang="en-IN" sz="2400" dirty="0"/>
              <a:t>- Correlation analysis (heatmap)</a:t>
            </a:r>
          </a:p>
          <a:p>
            <a:pPr lvl="1">
              <a:lnSpc>
                <a:spcPct val="150000"/>
              </a:lnSpc>
            </a:pPr>
            <a:r>
              <a:rPr lang="en-IN" sz="2400" dirty="0"/>
              <a:t>- </a:t>
            </a:r>
            <a:r>
              <a:rPr lang="en-IN" sz="2400" dirty="0" err="1"/>
              <a:t>Groupby</a:t>
            </a:r>
            <a:r>
              <a:rPr lang="en-IN" sz="2400" dirty="0"/>
              <a:t>-based seasonal aggregation</a:t>
            </a:r>
          </a:p>
        </p:txBody>
      </p:sp>
      <p:sp>
        <p:nvSpPr>
          <p:cNvPr id="9" name="Title 8">
            <a:extLst>
              <a:ext uri="{FF2B5EF4-FFF2-40B4-BE49-F238E27FC236}">
                <a16:creationId xmlns:a16="http://schemas.microsoft.com/office/drawing/2014/main" id="{8617C49E-E049-5352-687C-290CBDD85487}"/>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10170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8" end="8"/>
                                            </p:txEl>
                                          </p:spTgt>
                                        </p:tgtEl>
                                        <p:attrNameLst>
                                          <p:attrName>style.visibility</p:attrName>
                                        </p:attrNameLst>
                                      </p:cBhvr>
                                      <p:to>
                                        <p:strVal val="visible"/>
                                      </p:to>
                                    </p:set>
                                    <p:animEffect transition="in" filter="fade">
                                      <p:cBhvr>
                                        <p:cTn id="63" dur="1000"/>
                                        <p:tgtEl>
                                          <p:spTgt spid="7">
                                            <p:txEl>
                                              <p:pRg st="8" end="8"/>
                                            </p:txEl>
                                          </p:spTgt>
                                        </p:tgtEl>
                                      </p:cBhvr>
                                    </p:animEffect>
                                    <p:anim calcmode="lin" valueType="num">
                                      <p:cBhvr>
                                        <p:cTn id="6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D44FDC6-0375-77F7-581C-2723971E9519}"/>
              </a:ext>
            </a:extLst>
          </p:cNvPr>
          <p:cNvPicPr>
            <a:picLocks noChangeAspect="1"/>
          </p:cNvPicPr>
          <p:nvPr/>
        </p:nvPicPr>
        <p:blipFill>
          <a:blip r:embed="rId3"/>
          <a:stretch>
            <a:fillRect/>
          </a:stretch>
        </p:blipFill>
        <p:spPr>
          <a:xfrm>
            <a:off x="807164" y="1201586"/>
            <a:ext cx="8948057" cy="560315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D77FF33-C8FF-4554-F2B0-10B3208EC8CC}"/>
              </a:ext>
            </a:extLst>
          </p:cNvPr>
          <p:cNvPicPr>
            <a:picLocks noChangeAspect="1"/>
          </p:cNvPicPr>
          <p:nvPr/>
        </p:nvPicPr>
        <p:blipFill>
          <a:blip r:embed="rId3"/>
          <a:stretch>
            <a:fillRect/>
          </a:stretch>
        </p:blipFill>
        <p:spPr>
          <a:xfrm>
            <a:off x="522514" y="1275371"/>
            <a:ext cx="9461308" cy="538348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4412C9D-093D-9CAF-8117-A3FDFA1E2220}"/>
              </a:ext>
            </a:extLst>
          </p:cNvPr>
          <p:cNvPicPr>
            <a:picLocks noChangeAspect="1"/>
          </p:cNvPicPr>
          <p:nvPr/>
        </p:nvPicPr>
        <p:blipFill>
          <a:blip r:embed="rId3"/>
          <a:stretch>
            <a:fillRect/>
          </a:stretch>
        </p:blipFill>
        <p:spPr>
          <a:xfrm>
            <a:off x="476781" y="1241366"/>
            <a:ext cx="9614276" cy="523055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DF9760B5-AAEE-874C-CBFB-45F3ECCFD520}"/>
              </a:ext>
            </a:extLst>
          </p:cNvPr>
          <p:cNvSpPr>
            <a:spLocks noGrp="1"/>
          </p:cNvSpPr>
          <p:nvPr>
            <p:ph type="body" sz="quarter" idx="12"/>
          </p:nvPr>
        </p:nvSpPr>
        <p:spPr/>
        <p:txBody>
          <a:bodyPr/>
          <a:lstStyle/>
          <a:p>
            <a:endParaRPr lang="en-US"/>
          </a:p>
        </p:txBody>
      </p:sp>
      <p:pic>
        <p:nvPicPr>
          <p:cNvPr id="9" name="Picture 8">
            <a:extLst>
              <a:ext uri="{FF2B5EF4-FFF2-40B4-BE49-F238E27FC236}">
                <a16:creationId xmlns:a16="http://schemas.microsoft.com/office/drawing/2014/main" id="{0B1D0D65-C9D3-C0B4-FA12-40F52BC9795C}"/>
              </a:ext>
            </a:extLst>
          </p:cNvPr>
          <p:cNvPicPr>
            <a:picLocks noChangeAspect="1"/>
          </p:cNvPicPr>
          <p:nvPr/>
        </p:nvPicPr>
        <p:blipFill>
          <a:blip r:embed="rId3"/>
          <a:stretch>
            <a:fillRect/>
          </a:stretch>
        </p:blipFill>
        <p:spPr>
          <a:xfrm>
            <a:off x="489857" y="1275371"/>
            <a:ext cx="9387219" cy="559140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776A155-991A-FF45-9AC6-726E0964E0C0}"/>
              </a:ext>
            </a:extLst>
          </p:cNvPr>
          <p:cNvPicPr>
            <a:picLocks noChangeAspect="1"/>
          </p:cNvPicPr>
          <p:nvPr/>
        </p:nvPicPr>
        <p:blipFill>
          <a:blip r:embed="rId3"/>
          <a:stretch>
            <a:fillRect/>
          </a:stretch>
        </p:blipFill>
        <p:spPr>
          <a:xfrm>
            <a:off x="675957" y="1201586"/>
            <a:ext cx="8616425" cy="507300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6A2B5F4-3694-2C76-17EE-FC58012F6A66}"/>
              </a:ext>
            </a:extLst>
          </p:cNvPr>
          <p:cNvSpPr txBox="1"/>
          <p:nvPr/>
        </p:nvSpPr>
        <p:spPr>
          <a:xfrm>
            <a:off x="434751" y="1275371"/>
            <a:ext cx="9954007" cy="3785652"/>
          </a:xfrm>
          <a:prstGeom prst="rect">
            <a:avLst/>
          </a:prstGeom>
          <a:noFill/>
        </p:spPr>
        <p:txBody>
          <a:bodyPr wrap="none" rtlCol="0">
            <a:spAutoFit/>
          </a:bodyPr>
          <a:lstStyle/>
          <a:p>
            <a:r>
              <a:rPr lang="en-US" sz="2400" dirty="0"/>
              <a:t>- Extend the analysis with regional-level breakdowns once reliable </a:t>
            </a:r>
          </a:p>
          <a:p>
            <a:r>
              <a:rPr lang="en-US" sz="2400" dirty="0"/>
              <a:t>  location data is available.</a:t>
            </a:r>
          </a:p>
          <a:p>
            <a:r>
              <a:rPr lang="en-US" sz="2400" dirty="0"/>
              <a:t>- Incorporate time-series data across multiple years to study </a:t>
            </a:r>
          </a:p>
          <a:p>
            <a:r>
              <a:rPr lang="en-US" sz="2400" dirty="0"/>
              <a:t>  year-over-year seasonal trends rather than a single snapshot.</a:t>
            </a:r>
          </a:p>
          <a:p>
            <a:r>
              <a:rPr lang="en-US" sz="2400" dirty="0"/>
              <a:t>- Apply machine learning models (e.g. yield prediction) as a follow-up </a:t>
            </a:r>
          </a:p>
          <a:p>
            <a:r>
              <a:rPr lang="en-US" sz="2400" dirty="0"/>
              <a:t>  to this descriptive analysis.</a:t>
            </a:r>
          </a:p>
          <a:p>
            <a:r>
              <a:rPr lang="en-US" sz="2400" dirty="0"/>
              <a:t>- Build an interactive dashboard (Power BI / Tableau / </a:t>
            </a:r>
            <a:r>
              <a:rPr lang="en-US" sz="2400" dirty="0" err="1"/>
              <a:t>Streamlit</a:t>
            </a:r>
            <a:r>
              <a:rPr lang="en-US" sz="2400" dirty="0"/>
              <a:t>) for </a:t>
            </a:r>
          </a:p>
          <a:p>
            <a:r>
              <a:rPr lang="en-US" sz="2400" dirty="0"/>
              <a:t>  real-time seasonal performance monitoring.</a:t>
            </a:r>
          </a:p>
          <a:p>
            <a:r>
              <a:rPr lang="en-US" sz="2400" dirty="0"/>
              <a:t>- Integrate real-time weather and market price feeds to make the </a:t>
            </a:r>
          </a:p>
          <a:p>
            <a:r>
              <a:rPr lang="en-US" sz="2400" dirty="0"/>
              <a:t>  analysis dynamic rather than static.</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E8E6193-077B-24B6-AF96-743B6000DAF0}"/>
              </a:ext>
            </a:extLst>
          </p:cNvPr>
          <p:cNvSpPr txBox="1"/>
          <p:nvPr/>
        </p:nvSpPr>
        <p:spPr>
          <a:xfrm>
            <a:off x="563988" y="1377121"/>
            <a:ext cx="10380819" cy="4524315"/>
          </a:xfrm>
          <a:prstGeom prst="rect">
            <a:avLst/>
          </a:prstGeom>
          <a:noFill/>
        </p:spPr>
        <p:txBody>
          <a:bodyPr wrap="square" rtlCol="0">
            <a:spAutoFit/>
          </a:bodyPr>
          <a:lstStyle/>
          <a:p>
            <a:r>
              <a:rPr lang="en-US" sz="3200" dirty="0"/>
              <a:t>Project Repository: </a:t>
            </a:r>
            <a:r>
              <a:rPr lang="en-US" sz="3200" dirty="0">
                <a:hlinkClick r:id="rId3"/>
              </a:rPr>
              <a:t>https://github.com/Asfiashub/VOIS_internship.git</a:t>
            </a:r>
            <a:endParaRPr lang="en-US" sz="3200" dirty="0"/>
          </a:p>
          <a:p>
            <a:endParaRPr lang="en-US" sz="3200" dirty="0"/>
          </a:p>
          <a:p>
            <a:r>
              <a:rPr lang="en-US" sz="3200" dirty="0"/>
              <a:t>Repository includes:</a:t>
            </a:r>
          </a:p>
          <a:p>
            <a:r>
              <a:rPr lang="en-US" sz="3200" dirty="0"/>
              <a:t>- Jupyter Notebook (.</a:t>
            </a:r>
            <a:r>
              <a:rPr lang="en-US" sz="3200" dirty="0" err="1"/>
              <a:t>ipynb</a:t>
            </a:r>
            <a:r>
              <a:rPr lang="en-US" sz="3200" dirty="0"/>
              <a:t>)</a:t>
            </a:r>
          </a:p>
          <a:p>
            <a:r>
              <a:rPr lang="en-US" sz="3200" dirty="0"/>
              <a:t>- Dataset (.csv)</a:t>
            </a:r>
          </a:p>
          <a:p>
            <a:pPr marL="457200" indent="-457200">
              <a:buFontTx/>
              <a:buChar char="-"/>
            </a:pPr>
            <a:r>
              <a:rPr lang="en-US" sz="3200" dirty="0"/>
              <a:t>Presentation (.pptx)</a:t>
            </a:r>
          </a:p>
          <a:p>
            <a:pPr marL="457200" indent="-457200">
              <a:buFontTx/>
              <a:buChar char="-"/>
            </a:pPr>
            <a:r>
              <a:rPr lang="en-US" sz="3200" dirty="0"/>
              <a:t>Pdf</a:t>
            </a:r>
          </a:p>
          <a:p>
            <a:endParaRPr lang="en-US" sz="32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2835B41-4C55-86B0-F4CA-2C91842C90ED}"/>
              </a:ext>
            </a:extLst>
          </p:cNvPr>
          <p:cNvPicPr>
            <a:picLocks noChangeAspect="1"/>
          </p:cNvPicPr>
          <p:nvPr/>
        </p:nvPicPr>
        <p:blipFill>
          <a:blip r:embed="rId3"/>
          <a:stretch>
            <a:fillRect/>
          </a:stretch>
        </p:blipFill>
        <p:spPr>
          <a:xfrm>
            <a:off x="1208314" y="1275371"/>
            <a:ext cx="7679490" cy="54121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 name="Picture 1" descr="Thank you Images - Free Download on Magnific (formerly Freepik)">
            <a:extLst>
              <a:ext uri="{FF2B5EF4-FFF2-40B4-BE49-F238E27FC236}">
                <a16:creationId xmlns:a16="http://schemas.microsoft.com/office/drawing/2014/main" id="{D3F1DCD8-1817-3276-7113-DF6A04C64059}"/>
              </a:ext>
            </a:extLst>
          </p:cNvPr>
          <p:cNvPicPr>
            <a:picLocks noChangeAspect="1"/>
          </p:cNvPicPr>
          <p:nvPr/>
        </p:nvPicPr>
        <p:blipFill>
          <a:blip r:embed="rId3"/>
          <a:stretch>
            <a:fillRect/>
          </a:stretch>
        </p:blipFill>
        <p:spPr>
          <a:xfrm>
            <a:off x="1819517" y="156018"/>
            <a:ext cx="6915750" cy="6508942"/>
          </a:xfrm>
          <a:prstGeom prst="rect">
            <a:avLst/>
          </a:prstGeom>
        </p:spPr>
      </p:pic>
      <p:sp>
        <p:nvSpPr>
          <p:cNvPr id="4" name="TextBox 3">
            <a:extLst>
              <a:ext uri="{FF2B5EF4-FFF2-40B4-BE49-F238E27FC236}">
                <a16:creationId xmlns:a16="http://schemas.microsoft.com/office/drawing/2014/main" id="{C8509323-4E6C-0A1D-22A1-36C61CD9FD11}"/>
              </a:ext>
            </a:extLst>
          </p:cNvPr>
          <p:cNvSpPr txBox="1"/>
          <p:nvPr/>
        </p:nvSpPr>
        <p:spPr>
          <a:xfrm>
            <a:off x="1698171" y="5449078"/>
            <a:ext cx="5418471" cy="369332"/>
          </a:xfrm>
          <a:prstGeom prst="rect">
            <a:avLst/>
          </a:prstGeom>
          <a:noFill/>
        </p:spPr>
        <p:txBody>
          <a:bodyPr wrap="none" rtlCol="0">
            <a:spAutoFit/>
          </a:bodyPr>
          <a:lstStyle/>
          <a:p>
            <a:r>
              <a:rPr lang="en-US">
                <a:hlinkClick r:id="rId4"/>
              </a:rPr>
              <a:t>https://github.com/Asfiashub/VOIS_internship.git</a:t>
            </a:r>
            <a:endParaRPr lang="en-US"/>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593</TotalTime>
  <Words>706</Words>
  <Application>Microsoft Office PowerPoint</Application>
  <PresentationFormat>Widescreen</PresentationFormat>
  <Paragraphs>75</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performs an end-to-end data analytics study on a seasonal  agriculture dataset containing 25 attributes across environmental,  operational, production and economic categories.  The workflow includes: - Data cleaning (missing values, duplicates, data type checks) - Descriptive statistical analysis - Univariate, bivariate and multivariate visual analysis - Outlier detection using IQR - Seasonal comparison of yield, profit, water usage and efficiency - Correlation analysis between environmental and performance variables </vt:lpstr>
      <vt:lpstr>Project Description-contd  - Evidence-based insights and recommendations for seasonal planning  The dataset covers multiple states, districts and crops, allowing  performance to be compared not just across seasons but across crop type  and irrigation method as well.  Tools used: Python, Pandas, NumPy, Matplotlib, Seaborn (Google Colab /  Jupyter Notebook). No machine learning or dashboarding is involved — this  is a pure exploratory data analytics project.  </vt:lpstr>
      <vt:lpstr>WHO ARE THE END USERS?</vt:lpstr>
      <vt:lpstr>Technology Used</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Asfia fathima</cp:lastModifiedBy>
  <cp:revision>98</cp:revision>
  <dcterms:created xsi:type="dcterms:W3CDTF">2021-07-11T13:13:15Z</dcterms:created>
  <dcterms:modified xsi:type="dcterms:W3CDTF">2026-09-10T14:39:14Z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